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1295C"/>
                </a:solidFill>
                <a:latin typeface="Arial"/>
              </a:defRPr>
            </a:pPr>
            <a:r>
              <a:rPr sz="1400" b="0" i="0" u="none" strike="noStrike">
                <a:solidFill>
                  <a:srgbClr val="21295C"/>
                </a:solidFill>
                <a:latin typeface="Arial"/>
              </a:rPr>
              <a:t>F1 Score by Dataset &amp; Pipeline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Pipeline A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1295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D1 Raw</c:v>
                  </c:pt>
                  <c:pt idx="1">
                    <c:v>D2 Stat</c:v>
                  </c:pt>
                  <c:pt idx="2">
                    <c:v>D3 Freq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0.825</c:v>
                </c:pt>
                <c:pt idx="1">
                  <c:v>0.914</c:v>
                </c:pt>
                <c:pt idx="2">
                  <c:v>0.981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Pipeline B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1295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D1 Raw</c:v>
                  </c:pt>
                  <c:pt idx="1">
                    <c:v>D2 Stat</c:v>
                  </c:pt>
                  <c:pt idx="2">
                    <c:v>D3 Freq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0.829</c:v>
                </c:pt>
                <c:pt idx="1">
                  <c:v>0.909</c:v>
                </c:pt>
                <c:pt idx="2">
                  <c:v>0.997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21295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7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1295C"/>
                </a:solidFill>
                <a:latin typeface="Arial"/>
              </a:defRPr>
            </a:pPr>
            <a:r>
              <a:rPr sz="1400" b="0" i="0" u="none" strike="noStrike">
                <a:solidFill>
                  <a:srgbClr val="21295C"/>
                </a:solidFill>
                <a:latin typeface="Arial"/>
              </a:rPr>
              <a:t>Sparsity (% weights = 0)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L1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1295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D1 Raw</c:v>
                  </c:pt>
                  <c:pt idx="1">
                    <c:v>D2 Stat</c:v>
                  </c:pt>
                  <c:pt idx="2">
                    <c:v>D3 Freq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7.9</c:v>
                </c:pt>
                <c:pt idx="1">
                  <c:v>14.3</c:v>
                </c:pt>
                <c:pt idx="2">
                  <c:v>33.3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L2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1295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D1 Raw</c:v>
                  </c:pt>
                  <c:pt idx="1">
                    <c:v>D2 Stat</c:v>
                  </c:pt>
                  <c:pt idx="2">
                    <c:v>D3 Freq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ElasticNet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1295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D1 Raw</c:v>
                  </c:pt>
                  <c:pt idx="1">
                    <c:v>D2 Stat</c:v>
                  </c:pt>
                  <c:pt idx="2">
                    <c:v>D3 Freq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5.6</c:v>
                </c:pt>
                <c:pt idx="1">
                  <c:v>14.3</c:v>
                </c:pt>
                <c:pt idx="2">
                  <c:v>11.1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21295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1295C"/>
                </a:solidFill>
                <a:latin typeface="Arial"/>
              </a:defRPr>
            </a:pPr>
            <a:r>
              <a:rPr sz="1400" b="0" i="0" u="none" strike="noStrike">
                <a:solidFill>
                  <a:srgbClr val="21295C"/>
                </a:solidFill>
                <a:latin typeface="Arial"/>
              </a:rPr>
              <a:t>F1 Score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L1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1295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D1 Raw</c:v>
                  </c:pt>
                  <c:pt idx="1">
                    <c:v>D2 Stat</c:v>
                  </c:pt>
                  <c:pt idx="2">
                    <c:v>D3 Freq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0.836</c:v>
                </c:pt>
                <c:pt idx="1">
                  <c:v>0.917</c:v>
                </c:pt>
                <c:pt idx="2">
                  <c:v>0.978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L2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1295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D1 Raw</c:v>
                  </c:pt>
                  <c:pt idx="1">
                    <c:v>D2 Stat</c:v>
                  </c:pt>
                  <c:pt idx="2">
                    <c:v>D3 Freq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0.83</c:v>
                </c:pt>
                <c:pt idx="1">
                  <c:v>0.914</c:v>
                </c:pt>
                <c:pt idx="2">
                  <c:v>0.981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ElasticNet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1295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D1 Raw</c:v>
                  </c:pt>
                  <c:pt idx="1">
                    <c:v>D2 Stat</c:v>
                  </c:pt>
                  <c:pt idx="2">
                    <c:v>D3 Freq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0.83</c:v>
                </c:pt>
                <c:pt idx="1">
                  <c:v>0.914</c:v>
                </c:pt>
                <c:pt idx="2">
                  <c:v>0.981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21295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8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0" y="548640"/>
            <a:ext cx="45720" cy="137160"/>
          </a:xfrm>
          <a:prstGeom prst="rect">
            <a:avLst/>
          </a:prstGeom>
          <a:solidFill>
            <a:srgbClr val="1C7293">
              <a:alpha val="7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339328" y="548640"/>
            <a:ext cx="45720" cy="490604"/>
          </a:xfrm>
          <a:prstGeom prst="rect">
            <a:avLst/>
          </a:prstGeom>
          <a:solidFill>
            <a:srgbClr val="1C7293">
              <a:alpha val="7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49056" y="548640"/>
            <a:ext cx="45720" cy="677817"/>
          </a:xfrm>
          <a:prstGeom prst="rect">
            <a:avLst/>
          </a:prstGeom>
          <a:solidFill>
            <a:srgbClr val="1C7293">
              <a:alpha val="7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58784" y="548640"/>
            <a:ext cx="45720" cy="610751"/>
          </a:xfrm>
          <a:prstGeom prst="rect">
            <a:avLst/>
          </a:prstGeom>
          <a:solidFill>
            <a:srgbClr val="1C7293">
              <a:alpha val="7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68512" y="548640"/>
            <a:ext cx="45720" cy="320948"/>
          </a:xfrm>
          <a:prstGeom prst="rect">
            <a:avLst/>
          </a:prstGeom>
          <a:solidFill>
            <a:srgbClr val="1C7293">
              <a:alpha val="7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78240" y="548640"/>
            <a:ext cx="45720" cy="329614"/>
          </a:xfrm>
          <a:prstGeom prst="rect">
            <a:avLst/>
          </a:prstGeom>
          <a:solidFill>
            <a:srgbClr val="1C7293">
              <a:alpha val="7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887968" y="548640"/>
            <a:ext cx="45720" cy="615341"/>
          </a:xfrm>
          <a:prstGeom prst="rect">
            <a:avLst/>
          </a:prstGeom>
          <a:solidFill>
            <a:srgbClr val="1C7293">
              <a:alpha val="7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997696" y="548640"/>
            <a:ext cx="45720" cy="676173"/>
          </a:xfrm>
          <a:prstGeom prst="rect">
            <a:avLst/>
          </a:prstGeom>
          <a:solidFill>
            <a:srgbClr val="1C7293">
              <a:alpha val="7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07424" y="548640"/>
            <a:ext cx="45720" cy="483498"/>
          </a:xfrm>
          <a:prstGeom prst="rect">
            <a:avLst/>
          </a:prstGeom>
          <a:solidFill>
            <a:srgbClr val="1C7293">
              <a:alpha val="7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217152" y="548640"/>
            <a:ext cx="45720" cy="146385"/>
          </a:xfrm>
          <a:prstGeom prst="rect">
            <a:avLst/>
          </a:prstGeom>
          <a:solidFill>
            <a:srgbClr val="1C7293">
              <a:alpha val="7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326880" y="548640"/>
            <a:ext cx="45720" cy="497609"/>
          </a:xfrm>
          <a:prstGeom prst="rect">
            <a:avLst/>
          </a:prstGeom>
          <a:solidFill>
            <a:srgbClr val="1C7293">
              <a:alpha val="7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436608" y="548640"/>
            <a:ext cx="45720" cy="679309"/>
          </a:xfrm>
          <a:prstGeom prst="rect">
            <a:avLst/>
          </a:prstGeom>
          <a:solidFill>
            <a:srgbClr val="1C7293">
              <a:alpha val="7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546336" y="548640"/>
            <a:ext cx="45720" cy="606027"/>
          </a:xfrm>
          <a:prstGeom prst="rect">
            <a:avLst/>
          </a:prstGeom>
          <a:solidFill>
            <a:srgbClr val="1C7293">
              <a:alpha val="7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656064" y="548640"/>
            <a:ext cx="45720" cy="312230"/>
          </a:xfrm>
          <a:prstGeom prst="rect">
            <a:avLst/>
          </a:prstGeom>
          <a:solidFill>
            <a:srgbClr val="1C7293">
              <a:alpha val="7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765792" y="548640"/>
            <a:ext cx="45720" cy="338225"/>
          </a:xfrm>
          <a:prstGeom prst="rect">
            <a:avLst/>
          </a:prstGeom>
          <a:solidFill>
            <a:srgbClr val="1C7293">
              <a:alpha val="7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875520" y="548640"/>
            <a:ext cx="45720" cy="619796"/>
          </a:xfrm>
          <a:prstGeom prst="rect">
            <a:avLst/>
          </a:prstGeom>
          <a:solidFill>
            <a:srgbClr val="1C7293">
              <a:alpha val="7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985248" y="548640"/>
            <a:ext cx="45720" cy="674376"/>
          </a:xfrm>
          <a:prstGeom prst="rect">
            <a:avLst/>
          </a:prstGeom>
          <a:solidFill>
            <a:srgbClr val="1C7293">
              <a:alpha val="7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094976" y="548640"/>
            <a:ext cx="45720" cy="476295"/>
          </a:xfrm>
          <a:prstGeom prst="rect">
            <a:avLst/>
          </a:prstGeom>
          <a:solidFill>
            <a:srgbClr val="1C7293">
              <a:alpha val="7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204704" y="548640"/>
            <a:ext cx="45720" cy="155607"/>
          </a:xfrm>
          <a:prstGeom prst="rect">
            <a:avLst/>
          </a:prstGeom>
          <a:solidFill>
            <a:srgbClr val="1C7293">
              <a:alpha val="7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314432" y="548640"/>
            <a:ext cx="45720" cy="504513"/>
          </a:xfrm>
          <a:prstGeom prst="rect">
            <a:avLst/>
          </a:prstGeom>
          <a:solidFill>
            <a:srgbClr val="1C7293">
              <a:alpha val="7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424160" y="548640"/>
            <a:ext cx="45720" cy="680647"/>
          </a:xfrm>
          <a:prstGeom prst="rect">
            <a:avLst/>
          </a:prstGeom>
          <a:solidFill>
            <a:srgbClr val="1C7293">
              <a:alpha val="7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533888" y="548640"/>
            <a:ext cx="45720" cy="601171"/>
          </a:xfrm>
          <a:prstGeom prst="rect">
            <a:avLst/>
          </a:prstGeom>
          <a:solidFill>
            <a:srgbClr val="1C7293">
              <a:alpha val="7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643616" y="548640"/>
            <a:ext cx="45720" cy="303463"/>
          </a:xfrm>
          <a:prstGeom prst="rect">
            <a:avLst/>
          </a:prstGeom>
          <a:solidFill>
            <a:srgbClr val="1C7293">
              <a:alpha val="7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753344" y="548640"/>
            <a:ext cx="45720" cy="346780"/>
          </a:xfrm>
          <a:prstGeom prst="rect">
            <a:avLst/>
          </a:prstGeom>
          <a:solidFill>
            <a:srgbClr val="1C7293">
              <a:alpha val="7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863072" y="548640"/>
            <a:ext cx="45720" cy="624115"/>
          </a:xfrm>
          <a:prstGeom prst="rect">
            <a:avLst/>
          </a:prstGeom>
          <a:solidFill>
            <a:srgbClr val="1C7293">
              <a:alpha val="7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972800" y="548640"/>
            <a:ext cx="45720" cy="672427"/>
          </a:xfrm>
          <a:prstGeom prst="rect">
            <a:avLst/>
          </a:prstGeom>
          <a:solidFill>
            <a:srgbClr val="1C7293">
              <a:alpha val="7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082528" y="548640"/>
            <a:ext cx="45720" cy="468995"/>
          </a:xfrm>
          <a:prstGeom prst="rect">
            <a:avLst/>
          </a:prstGeom>
          <a:solidFill>
            <a:srgbClr val="1C7293">
              <a:alpha val="7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1192256" y="548640"/>
            <a:ext cx="45720" cy="164824"/>
          </a:xfrm>
          <a:prstGeom prst="rect">
            <a:avLst/>
          </a:prstGeom>
          <a:solidFill>
            <a:srgbClr val="1C7293">
              <a:alpha val="7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1301984" y="548640"/>
            <a:ext cx="45720" cy="511313"/>
          </a:xfrm>
          <a:prstGeom prst="rect">
            <a:avLst/>
          </a:prstGeom>
          <a:solidFill>
            <a:srgbClr val="1C7293">
              <a:alpha val="7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1411712" y="548640"/>
            <a:ext cx="45720" cy="681831"/>
          </a:xfrm>
          <a:prstGeom prst="rect">
            <a:avLst/>
          </a:prstGeom>
          <a:solidFill>
            <a:srgbClr val="1C7293">
              <a:alpha val="7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4400" y="164592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Seizure Prediction</a:t>
            </a:r>
            <a:endParaRPr lang="en-US" sz="4800" dirty="0"/>
          </a:p>
        </p:txBody>
      </p:sp>
      <p:sp>
        <p:nvSpPr>
          <p:cNvPr id="34" name="Text 32"/>
          <p:cNvSpPr/>
          <p:nvPr/>
        </p:nvSpPr>
        <p:spPr>
          <a:xfrm>
            <a:off x="914400" y="25603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• Regularization • Class Imbalance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914400" y="32004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Comparative Study Across Three EEG Feature Representations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914400" y="4206240"/>
            <a:ext cx="91440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7" name="Text 35"/>
          <p:cNvSpPr/>
          <p:nvPr/>
        </p:nvSpPr>
        <p:spPr>
          <a:xfrm>
            <a:off x="914400" y="438912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Semester Major Assignment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pipeline choices matter more than model choice in seizure prediction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5029200" cy="1188720"/>
          </a:xfrm>
          <a:prstGeom prst="rect">
            <a:avLst/>
          </a:prstGeom>
          <a:solidFill>
            <a:srgbClr val="F1F5F9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45920"/>
            <a:ext cx="109728" cy="11887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4592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50M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2377440" y="164592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affected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epilepsy worldwide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108960"/>
            <a:ext cx="5029200" cy="1188720"/>
          </a:xfrm>
          <a:prstGeom prst="rect">
            <a:avLst/>
          </a:prstGeom>
          <a:solidFill>
            <a:srgbClr val="F1F5F9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3108960"/>
            <a:ext cx="109728" cy="11887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10896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~20%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2377440" y="310896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EEG samples are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seizure (heavy imbalance)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4572000"/>
            <a:ext cx="5029200" cy="1188720"/>
          </a:xfrm>
          <a:prstGeom prst="rect">
            <a:avLst/>
          </a:prstGeom>
          <a:solidFill>
            <a:srgbClr val="F1F5F9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4572000"/>
            <a:ext cx="109728" cy="11887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57200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178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2377440" y="457200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features per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1-second EEG segment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943600" y="164592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key questions we answer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943600" y="2103120"/>
            <a:ext cx="57607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preprocessing order affect results?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regularization generalizes best?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Elastic Net beat L1 and L2?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imbalance handling interact with regularization?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Datasets, One Source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UCI Epileptic Seizure Recognition → 3 feature representations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3657600" cy="420624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737360"/>
            <a:ext cx="3657600" cy="16459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0574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24231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 — Raw EEG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310896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178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731520" y="41605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457200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time-domain samples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High-dim, noisy, redundant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61688" y="1737360"/>
            <a:ext cx="3657600" cy="420624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61688" y="1737360"/>
            <a:ext cx="3657600" cy="16459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4636008" y="20574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HAND-CRAFTED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36008" y="24231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 — Statistical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636008" y="310896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6000" dirty="0"/>
          </a:p>
        </p:txBody>
      </p:sp>
      <p:sp>
        <p:nvSpPr>
          <p:cNvPr id="16" name="Text 14"/>
          <p:cNvSpPr/>
          <p:nvPr/>
        </p:nvSpPr>
        <p:spPr>
          <a:xfrm>
            <a:off x="4636008" y="41605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636008" y="457200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Mean, std, skew, kurtosis,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RMS, MAV, zero-crossings...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266176" y="1737360"/>
            <a:ext cx="3657600" cy="420624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266176" y="1737360"/>
            <a:ext cx="3657600" cy="16459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8540496" y="20574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540496" y="24231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 — Frequency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8540496" y="310896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6000" dirty="0"/>
          </a:p>
        </p:txBody>
      </p:sp>
      <p:sp>
        <p:nvSpPr>
          <p:cNvPr id="23" name="Text 21"/>
          <p:cNvSpPr/>
          <p:nvPr/>
        </p:nvSpPr>
        <p:spPr>
          <a:xfrm>
            <a:off x="8540496" y="41605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540496" y="457200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 powers (δ,θ,α,β,γ),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entropy, centroid, edge freq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6126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4,000 stratified samples • 20% positive class • 4:1 imbalance ratio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Preprocessing Pipelines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compare orderings to test the central hypothesis: order matters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2286000"/>
            <a:ext cx="640080" cy="6400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280160" y="22402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280160" y="257860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zero-mean, unit-variance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77240" y="2971800"/>
            <a:ext cx="0" cy="320040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57200" y="3291840"/>
            <a:ext cx="640080" cy="6400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291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280160" y="32461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Denoise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280160" y="358444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outliers ±4σ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77240" y="3977640"/>
            <a:ext cx="0" cy="320040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57200" y="4297680"/>
            <a:ext cx="640080" cy="6400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4297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280160" y="4251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SelectKBest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280160" y="459028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ANOVA F-score, top 50%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0" y="173736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B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6400800" y="2286000"/>
            <a:ext cx="640080" cy="6400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223760" y="2240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223760" y="257860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at dataset level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720840" y="2971800"/>
            <a:ext cx="0" cy="32004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400800" y="3291840"/>
            <a:ext cx="640080" cy="6400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0" y="3291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223760" y="3246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MinMaxScaler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7223760" y="358444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to [0,1]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720840" y="3977640"/>
            <a:ext cx="0" cy="32004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6400800" y="4297680"/>
            <a:ext cx="640080" cy="6400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0" y="4297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7223760" y="4251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7223760" y="459028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 95% variance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57200" y="5852160"/>
            <a:ext cx="11247120" cy="7315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5" name="Text 33"/>
          <p:cNvSpPr/>
          <p:nvPr/>
        </p:nvSpPr>
        <p:spPr>
          <a:xfrm>
            <a:off x="640080" y="58521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Hypothesis: A preserves interpretability; B compresses redundancy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Logistic Regression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 features (D3) carry the most discriminative information</a:t>
            </a:r>
            <a:endParaRPr lang="en-US" sz="1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645920"/>
          <a:ext cx="640080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132320" y="1737360"/>
            <a:ext cx="457200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132320" y="1737360"/>
            <a:ext cx="109728" cy="12801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0" y="18288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 wins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315200" y="21488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= 0.997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315200" y="251460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 features are compact + discriminative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132320" y="3200400"/>
            <a:ext cx="457200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132320" y="3200400"/>
            <a:ext cx="109728" cy="12801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9"/>
          <p:cNvSpPr/>
          <p:nvPr/>
        </p:nvSpPr>
        <p:spPr>
          <a:xfrm>
            <a:off x="7315200" y="32918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 lags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315200" y="36118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= 0.83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7315200" y="39776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high-dim raw EEG hits curse of dimensionality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132320" y="4663440"/>
            <a:ext cx="457200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132320" y="4663440"/>
            <a:ext cx="109728" cy="12801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7" name="Text 14"/>
          <p:cNvSpPr/>
          <p:nvPr/>
        </p:nvSpPr>
        <p:spPr>
          <a:xfrm>
            <a:off x="7315200" y="47548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Pipelines close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7315200" y="50749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 F1 pt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7315200" y="544068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difference between A and B at baseline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 &amp; Underfitting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extreme regimes on D1 — visualized with learning curves</a:t>
            </a:r>
            <a:endParaRPr lang="en-US" sz="1600" dirty="0"/>
          </a:p>
        </p:txBody>
      </p:sp>
      <p:pic>
        <p:nvPicPr>
          <p:cNvPr id="4" name="Image 0" descr="/home/claude/seizure_project/figures/learning_curv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54480"/>
            <a:ext cx="7772400" cy="2926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503920" y="1554480"/>
            <a:ext cx="329184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595360" y="16002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UNDERFIT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595360" y="196596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features + C = 10⁻⁴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curves stay low →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too constrained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8503920" y="3108960"/>
            <a:ext cx="329184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DC262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95360" y="31546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595360" y="352044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178 + poly features, no reg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F1 = 0.96 / Val F1 = 0.74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22-point gap = memorizing</a:t>
            </a:r>
            <a:endParaRPr lang="en-US" sz="1300" dirty="0"/>
          </a:p>
        </p:txBody>
      </p:sp>
      <p:pic>
        <p:nvPicPr>
          <p:cNvPr id="11" name="Image 1" descr="/home/claude/seizure_project/figures/validation_curv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0"/>
            <a:ext cx="6858000" cy="210312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7589520" y="4937760"/>
            <a:ext cx="4114800" cy="1463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772400" y="50292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Sweet spot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7772400" y="54406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F1 peaks around C ≈ 0.01.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reg → under-fit.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Weaker reg → no extra gain.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Regularization: L1 vs L2 vs Elastic Net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Sparsity tells the real story — performance differences are small</a:t>
            </a:r>
            <a:endParaRPr lang="en-US" sz="1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645920"/>
          <a:ext cx="594360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6583680" y="1645920"/>
          <a:ext cx="512064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Imbalance: The Precision–Recall Trade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/ undersampling / class-weighting all raise recall at a precision cost</a:t>
            </a:r>
            <a:endParaRPr lang="en-US" sz="1600" dirty="0"/>
          </a:p>
        </p:txBody>
      </p:sp>
      <p:pic>
        <p:nvPicPr>
          <p:cNvPr id="4" name="Image 0" descr="/home/claude/seizure_project/figures/pr_tradeo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54480"/>
            <a:ext cx="7498080" cy="2743200"/>
          </a:xfrm>
          <a:prstGeom prst="rect">
            <a:avLst/>
          </a:prstGeom>
        </p:spPr>
      </p:pic>
      <p:pic>
        <p:nvPicPr>
          <p:cNvPr id="5" name="Image 1" descr="/home/claude/seizure_project/figures/pr_auc_hea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389120"/>
            <a:ext cx="7498080" cy="22860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229600" y="1645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8229600" y="2103120"/>
            <a:ext cx="3657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 recall: 0.83 → 0.92 with undersampling, but precision drops 0.83 → 0.70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D3, undersampling reaches 100% recall with almost no precision loss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Class-weighting matches SMOTE in F1 but costs nothing extra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PR-AUC barely moves: it summarizes the curve, not the operating point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Analysis — Four Answers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5486400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280160"/>
            <a:ext cx="137160" cy="23774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55448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554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737360" y="15087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preprocessing order affect results?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737360" y="192024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but small effect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differs by ≤0.5 pts between A and B. Direction flips with feature type.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09360" y="1280160"/>
            <a:ext cx="5486400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309360" y="1280160"/>
            <a:ext cx="137160" cy="23774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Shape 10"/>
          <p:cNvSpPr/>
          <p:nvPr/>
        </p:nvSpPr>
        <p:spPr>
          <a:xfrm>
            <a:off x="6675120" y="155448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6675120" y="1554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589520" y="15087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regularization generalizes best?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589520" y="192024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wins narrowly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675120" y="265176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F1 = 0.911 (L1) vs 0.909 (L2 &amp; EN). L1 also most stable across folds.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931920"/>
            <a:ext cx="5486400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931920"/>
            <a:ext cx="137160" cy="23774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4206240"/>
            <a:ext cx="731520" cy="7315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4206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737360" y="41605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Elastic Net consistently beat L1/L2?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737360" y="457200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EN won 1/6 head-to-heads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22960" y="530352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D1 the pure-sparse L1 wins; on D2/D3 all three converge.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309360" y="3931920"/>
            <a:ext cx="5486400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309360" y="3931920"/>
            <a:ext cx="137160" cy="23774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6" name="Shape 24"/>
          <p:cNvSpPr/>
          <p:nvPr/>
        </p:nvSpPr>
        <p:spPr>
          <a:xfrm>
            <a:off x="6675120" y="4206240"/>
            <a:ext cx="731520" cy="7315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7" name="Text 25"/>
          <p:cNvSpPr/>
          <p:nvPr/>
        </p:nvSpPr>
        <p:spPr>
          <a:xfrm>
            <a:off x="6675120" y="4206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589520" y="41605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imbalance interact with reg?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589520" y="457200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but coherent shift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675120" y="530352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Resampling costs F1 across all regs; class-weighting + L1 is best clinically.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Recommendation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seizure-prediction logistic regression baseline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2286000"/>
            <a:ext cx="26517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17320" y="246888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1417320" y="2468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32918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36576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zero-mean, unit-variance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54680" y="3200400"/>
            <a:ext cx="182880" cy="0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383280" y="2286000"/>
            <a:ext cx="26517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43400" y="246888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4343400" y="2468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474720" y="32918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SelectKBest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474720" y="36576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ANOVA F-score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80760" y="3200400"/>
            <a:ext cx="182880" cy="0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309360" y="2286000"/>
            <a:ext cx="26517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269480" y="246888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7269480" y="2468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400800" y="32918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Logistic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00800" y="36576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tuned via validation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006840" y="3200400"/>
            <a:ext cx="182880" cy="0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235440" y="2286000"/>
            <a:ext cx="26517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195560" y="246888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4" name="Text 22"/>
          <p:cNvSpPr/>
          <p:nvPr/>
        </p:nvSpPr>
        <p:spPr>
          <a:xfrm>
            <a:off x="10195560" y="2468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326880" y="32918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class_weight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326880" y="36576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'balanced'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4754880"/>
            <a:ext cx="11247120" cy="9144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47548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PR-AUC alongside F1 — it captures the imbalanced precision–recall surface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457200" y="59436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work: extend to multi-channel CHB-MIT, compare to gradient-boosted trees and lightweight CNNs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731520"/>
            <a:ext cx="64008" cy="182880"/>
          </a:xfrm>
          <a:prstGeom prst="rect">
            <a:avLst/>
          </a:prstGeom>
          <a:solidFill>
            <a:srgbClr val="1C7293">
              <a:alpha val="7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" y="731520"/>
            <a:ext cx="64008" cy="489751"/>
          </a:xfrm>
          <a:prstGeom prst="rect">
            <a:avLst/>
          </a:prstGeom>
          <a:solidFill>
            <a:srgbClr val="1C7293">
              <a:alpha val="7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731520"/>
            <a:ext cx="64008" cy="721489"/>
          </a:xfrm>
          <a:prstGeom prst="rect">
            <a:avLst/>
          </a:prstGeom>
          <a:solidFill>
            <a:srgbClr val="1C7293">
              <a:alpha val="7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3000" y="731520"/>
            <a:ext cx="64008" cy="821357"/>
          </a:xfrm>
          <a:prstGeom prst="rect">
            <a:avLst/>
          </a:prstGeom>
          <a:solidFill>
            <a:srgbClr val="1C7293">
              <a:alpha val="7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0" y="731520"/>
            <a:ext cx="64008" cy="764903"/>
          </a:xfrm>
          <a:prstGeom prst="rect">
            <a:avLst/>
          </a:prstGeom>
          <a:solidFill>
            <a:srgbClr val="1C7293">
              <a:alpha val="7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00200" y="731520"/>
            <a:ext cx="64008" cy="565950"/>
          </a:xfrm>
          <a:prstGeom prst="rect">
            <a:avLst/>
          </a:prstGeom>
          <a:solidFill>
            <a:srgbClr val="1C7293">
              <a:alpha val="7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8800" y="731520"/>
            <a:ext cx="64008" cy="273208"/>
          </a:xfrm>
          <a:prstGeom prst="rect">
            <a:avLst/>
          </a:prstGeom>
          <a:solidFill>
            <a:srgbClr val="1C7293">
              <a:alpha val="7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57400" y="731520"/>
            <a:ext cx="64008" cy="407409"/>
          </a:xfrm>
          <a:prstGeom prst="rect">
            <a:avLst/>
          </a:prstGeom>
          <a:solidFill>
            <a:srgbClr val="1C7293">
              <a:alpha val="7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0" y="731520"/>
            <a:ext cx="64008" cy="667294"/>
          </a:xfrm>
          <a:prstGeom prst="rect">
            <a:avLst/>
          </a:prstGeom>
          <a:solidFill>
            <a:srgbClr val="1C7293">
              <a:alpha val="7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14600" y="731520"/>
            <a:ext cx="64008" cy="808577"/>
          </a:xfrm>
          <a:prstGeom prst="rect">
            <a:avLst/>
          </a:prstGeom>
          <a:solidFill>
            <a:srgbClr val="1C7293">
              <a:alpha val="7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0" y="731520"/>
            <a:ext cx="64008" cy="796668"/>
          </a:xfrm>
          <a:prstGeom prst="rect">
            <a:avLst/>
          </a:prstGeom>
          <a:solidFill>
            <a:srgbClr val="1C7293">
              <a:alpha val="7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71800" y="731520"/>
            <a:ext cx="64008" cy="634482"/>
          </a:xfrm>
          <a:prstGeom prst="rect">
            <a:avLst/>
          </a:prstGeom>
          <a:solidFill>
            <a:srgbClr val="1C7293">
              <a:alpha val="7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0" y="731520"/>
            <a:ext cx="64008" cy="361728"/>
          </a:xfrm>
          <a:prstGeom prst="rect">
            <a:avLst/>
          </a:prstGeom>
          <a:solidFill>
            <a:srgbClr val="1C7293">
              <a:alpha val="7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29000" y="731520"/>
            <a:ext cx="64008" cy="320574"/>
          </a:xfrm>
          <a:prstGeom prst="rect">
            <a:avLst/>
          </a:prstGeom>
          <a:solidFill>
            <a:srgbClr val="1C7293">
              <a:alpha val="7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0" y="731520"/>
            <a:ext cx="64008" cy="603404"/>
          </a:xfrm>
          <a:prstGeom prst="rect">
            <a:avLst/>
          </a:prstGeom>
          <a:solidFill>
            <a:srgbClr val="1C7293">
              <a:alpha val="7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886200" y="731520"/>
            <a:ext cx="64008" cy="783275"/>
          </a:xfrm>
          <a:prstGeom prst="rect">
            <a:avLst/>
          </a:prstGeom>
          <a:solidFill>
            <a:srgbClr val="1C7293">
              <a:alpha val="7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14800" y="731520"/>
            <a:ext cx="64008" cy="816148"/>
          </a:xfrm>
          <a:prstGeom prst="rect">
            <a:avLst/>
          </a:prstGeom>
          <a:solidFill>
            <a:srgbClr val="1C7293">
              <a:alpha val="7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43400" y="731520"/>
            <a:ext cx="64008" cy="693976"/>
          </a:xfrm>
          <a:prstGeom prst="rect">
            <a:avLst/>
          </a:prstGeom>
          <a:solidFill>
            <a:srgbClr val="1C7293">
              <a:alpha val="7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0" y="731520"/>
            <a:ext cx="64008" cy="446669"/>
          </a:xfrm>
          <a:prstGeom prst="rect">
            <a:avLst/>
          </a:prstGeom>
          <a:solidFill>
            <a:srgbClr val="1C7293">
              <a:alpha val="7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00600" y="731520"/>
            <a:ext cx="64008" cy="230983"/>
          </a:xfrm>
          <a:prstGeom prst="rect">
            <a:avLst/>
          </a:prstGeom>
          <a:solidFill>
            <a:srgbClr val="1C7293">
              <a:alpha val="7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0" y="731520"/>
            <a:ext cx="64008" cy="531097"/>
          </a:xfrm>
          <a:prstGeom prst="rect">
            <a:avLst/>
          </a:prstGeom>
          <a:solidFill>
            <a:srgbClr val="1C7293">
              <a:alpha val="7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257800" y="731520"/>
            <a:ext cx="64008" cy="745956"/>
          </a:xfrm>
          <a:prstGeom prst="rect">
            <a:avLst/>
          </a:prstGeom>
          <a:solidFill>
            <a:srgbClr val="1C7293">
              <a:alpha val="7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0" y="731520"/>
            <a:ext cx="64008" cy="822954"/>
          </a:xfrm>
          <a:prstGeom prst="rect">
            <a:avLst/>
          </a:prstGeom>
          <a:solidFill>
            <a:srgbClr val="1C7293">
              <a:alpha val="7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15000" y="731520"/>
            <a:ext cx="64008" cy="743239"/>
          </a:xfrm>
          <a:prstGeom prst="rect">
            <a:avLst/>
          </a:prstGeom>
          <a:solidFill>
            <a:srgbClr val="1C7293">
              <a:alpha val="7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0" y="731520"/>
            <a:ext cx="64008" cy="526330"/>
          </a:xfrm>
          <a:prstGeom prst="rect">
            <a:avLst/>
          </a:prstGeom>
          <a:solidFill>
            <a:srgbClr val="1C7293">
              <a:alpha val="7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72200" y="731520"/>
            <a:ext cx="64008" cy="225331"/>
          </a:xfrm>
          <a:prstGeom prst="rect">
            <a:avLst/>
          </a:prstGeom>
          <a:solidFill>
            <a:srgbClr val="1C7293">
              <a:alpha val="7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00800" y="731520"/>
            <a:ext cx="64008" cy="451821"/>
          </a:xfrm>
          <a:prstGeom prst="rect">
            <a:avLst/>
          </a:prstGeom>
          <a:solidFill>
            <a:srgbClr val="1C7293">
              <a:alpha val="7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629400" y="731520"/>
            <a:ext cx="64008" cy="697366"/>
          </a:xfrm>
          <a:prstGeom prst="rect">
            <a:avLst/>
          </a:prstGeom>
          <a:solidFill>
            <a:srgbClr val="1C7293">
              <a:alpha val="7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858000" y="731520"/>
            <a:ext cx="64008" cy="816948"/>
          </a:xfrm>
          <a:prstGeom prst="rect">
            <a:avLst/>
          </a:prstGeom>
          <a:solidFill>
            <a:srgbClr val="1C7293">
              <a:alpha val="7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086600" y="731520"/>
            <a:ext cx="64008" cy="781288"/>
          </a:xfrm>
          <a:prstGeom prst="rect">
            <a:avLst/>
          </a:prstGeom>
          <a:solidFill>
            <a:srgbClr val="1C7293">
              <a:alpha val="7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315200" y="731520"/>
            <a:ext cx="64008" cy="599116"/>
          </a:xfrm>
          <a:prstGeom prst="rect">
            <a:avLst/>
          </a:prstGeom>
          <a:solidFill>
            <a:srgbClr val="1C7293">
              <a:alpha val="7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543800" y="731520"/>
            <a:ext cx="64008" cy="315036"/>
          </a:xfrm>
          <a:prstGeom prst="rect">
            <a:avLst/>
          </a:prstGeom>
          <a:solidFill>
            <a:srgbClr val="1C7293">
              <a:alpha val="7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772400" y="731520"/>
            <a:ext cx="64008" cy="367161"/>
          </a:xfrm>
          <a:prstGeom prst="rect">
            <a:avLst/>
          </a:prstGeom>
          <a:solidFill>
            <a:srgbClr val="1C7293">
              <a:alpha val="7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001000" y="731520"/>
            <a:ext cx="64008" cy="638480"/>
          </a:xfrm>
          <a:prstGeom prst="rect">
            <a:avLst/>
          </a:prstGeom>
          <a:solidFill>
            <a:srgbClr val="1C7293">
              <a:alpha val="7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229600" y="731520"/>
            <a:ext cx="64008" cy="798251"/>
          </a:xfrm>
          <a:prstGeom prst="rect">
            <a:avLst/>
          </a:prstGeom>
          <a:solidFill>
            <a:srgbClr val="1C7293">
              <a:alpha val="7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458200" y="731520"/>
            <a:ext cx="64008" cy="807359"/>
          </a:xfrm>
          <a:prstGeom prst="rect">
            <a:avLst/>
          </a:prstGeom>
          <a:solidFill>
            <a:srgbClr val="1C7293">
              <a:alpha val="7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686800" y="731520"/>
            <a:ext cx="64008" cy="663572"/>
          </a:xfrm>
          <a:prstGeom prst="rect">
            <a:avLst/>
          </a:prstGeom>
          <a:solidFill>
            <a:srgbClr val="1C7293">
              <a:alpha val="7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915400" y="731520"/>
            <a:ext cx="64008" cy="402095"/>
          </a:xfrm>
          <a:prstGeom prst="rect">
            <a:avLst/>
          </a:prstGeom>
          <a:solidFill>
            <a:srgbClr val="1C7293">
              <a:alpha val="7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144000" y="731520"/>
            <a:ext cx="64008" cy="278813"/>
          </a:xfrm>
          <a:prstGeom prst="rect">
            <a:avLst/>
          </a:prstGeom>
          <a:solidFill>
            <a:srgbClr val="1C7293">
              <a:alpha val="7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372600" y="731520"/>
            <a:ext cx="64008" cy="570474"/>
          </a:xfrm>
          <a:prstGeom prst="rect">
            <a:avLst/>
          </a:prstGeom>
          <a:solidFill>
            <a:srgbClr val="1C7293">
              <a:alpha val="7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601200" y="731520"/>
            <a:ext cx="64008" cy="767238"/>
          </a:xfrm>
          <a:prstGeom prst="rect">
            <a:avLst/>
          </a:prstGeom>
          <a:solidFill>
            <a:srgbClr val="1C7293">
              <a:alpha val="7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829800" y="731520"/>
            <a:ext cx="64008" cy="820931"/>
          </a:xfrm>
          <a:prstGeom prst="rect">
            <a:avLst/>
          </a:prstGeom>
          <a:solidFill>
            <a:srgbClr val="1C7293">
              <a:alpha val="7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058400" y="731520"/>
            <a:ext cx="64008" cy="718407"/>
          </a:xfrm>
          <a:prstGeom prst="rect">
            <a:avLst/>
          </a:prstGeom>
          <a:solidFill>
            <a:srgbClr val="1C7293">
              <a:alpha val="7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287000" y="731520"/>
            <a:ext cx="64008" cy="484767"/>
          </a:xfrm>
          <a:prstGeom prst="rect">
            <a:avLst/>
          </a:prstGeom>
          <a:solidFill>
            <a:srgbClr val="1C7293">
              <a:alpha val="7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0515600" y="731520"/>
            <a:ext cx="64008" cy="188546"/>
          </a:xfrm>
          <a:prstGeom prst="rect">
            <a:avLst/>
          </a:prstGeom>
          <a:solidFill>
            <a:srgbClr val="1C7293">
              <a:alpha val="7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0744200" y="731520"/>
            <a:ext cx="64008" cy="494711"/>
          </a:xfrm>
          <a:prstGeom prst="rect">
            <a:avLst/>
          </a:prstGeom>
          <a:solidFill>
            <a:srgbClr val="1C7293">
              <a:alpha val="7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0972800" y="731520"/>
            <a:ext cx="64008" cy="724529"/>
          </a:xfrm>
          <a:prstGeom prst="rect">
            <a:avLst/>
          </a:prstGeom>
          <a:solidFill>
            <a:srgbClr val="1C7293">
              <a:alpha val="7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1201400" y="731520"/>
            <a:ext cx="64008" cy="821732"/>
          </a:xfrm>
          <a:prstGeom prst="rect">
            <a:avLst/>
          </a:prstGeom>
          <a:solidFill>
            <a:srgbClr val="1C7293">
              <a:alpha val="7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1430000" y="731520"/>
            <a:ext cx="64008" cy="762523"/>
          </a:xfrm>
          <a:prstGeom prst="rect">
            <a:avLst/>
          </a:prstGeom>
          <a:solidFill>
            <a:srgbClr val="1C7293">
              <a:alpha val="7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1658600" y="731520"/>
            <a:ext cx="64008" cy="561396"/>
          </a:xfrm>
          <a:prstGeom prst="rect">
            <a:avLst/>
          </a:prstGeom>
          <a:solidFill>
            <a:srgbClr val="1C7293">
              <a:alpha val="7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57200" y="2743200"/>
            <a:ext cx="11247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400" dirty="0"/>
          </a:p>
        </p:txBody>
      </p:sp>
      <p:sp>
        <p:nvSpPr>
          <p:cNvPr id="53" name="Text 51"/>
          <p:cNvSpPr/>
          <p:nvPr/>
        </p:nvSpPr>
        <p:spPr>
          <a:xfrm>
            <a:off x="457200" y="384048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200" dirty="0"/>
          </a:p>
        </p:txBody>
      </p:sp>
      <p:sp>
        <p:nvSpPr>
          <p:cNvPr id="54" name="Shape 52"/>
          <p:cNvSpPr/>
          <p:nvPr/>
        </p:nvSpPr>
        <p:spPr>
          <a:xfrm>
            <a:off x="0" y="5943600"/>
            <a:ext cx="12161520" cy="9144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5" name="Text 53"/>
          <p:cNvSpPr/>
          <p:nvPr/>
        </p:nvSpPr>
        <p:spPr>
          <a:xfrm>
            <a:off x="457200" y="5943600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on GitHub • Notebook on Colab • Report on Overleaf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Seizure Prediction Comparative Study</dc:title>
  <dc:subject>PptxGenJS Presentation</dc:subject>
  <dc:creator>Student</dc:creator>
  <cp:lastModifiedBy>Student</cp:lastModifiedBy>
  <cp:revision>1</cp:revision>
  <dcterms:created xsi:type="dcterms:W3CDTF">2026-05-26T09:57:53Z</dcterms:created>
  <dcterms:modified xsi:type="dcterms:W3CDTF">2026-05-26T09:57:53Z</dcterms:modified>
</cp:coreProperties>
</file>