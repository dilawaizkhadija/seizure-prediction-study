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1295C"/>
                </a:solidFill>
                <a:latin typeface="Arial"/>
              </a:defRPr>
            </a:pPr>
            <a:r>
              <a:rPr sz="1400" b="0" i="0" u="none" strike="noStrike">
                <a:solidFill>
                  <a:srgbClr val="21295C"/>
                </a:solidFill>
                <a:latin typeface="Arial"/>
              </a:rPr>
              <a:t>F1 Score by Dataset &amp; Pipeline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Pipeline A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1295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D1 Raw</c:v>
                </c:pt>
                <c:pt idx="1">
                  <c:v>D2 Stat</c:v>
                </c:pt>
                <c:pt idx="2">
                  <c:v>D3 Freq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0.98099999999999998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902-403C-ABE7-984BC14C1ED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Pipeline B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1295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D1 Raw</c:v>
                </c:pt>
                <c:pt idx="1">
                  <c:v>D2 Stat</c:v>
                </c:pt>
                <c:pt idx="2">
                  <c:v>D3 Freq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0.82899999999999996</c:v>
                </c:pt>
                <c:pt idx="1">
                  <c:v>0.90900000000000003</c:v>
                </c:pt>
                <c:pt idx="2">
                  <c:v>0.997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902-403C-ABE7-984BC14C1ED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7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1295C"/>
                </a:solidFill>
                <a:latin typeface="Arial"/>
              </a:defRPr>
            </a:pPr>
            <a:r>
              <a:rPr sz="1400" b="0" i="0" u="none" strike="noStrike">
                <a:solidFill>
                  <a:srgbClr val="21295C"/>
                </a:solidFill>
                <a:latin typeface="Arial"/>
              </a:rPr>
              <a:t>Sparsity (% weights = 0)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L1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1295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D1 Raw</c:v>
                </c:pt>
                <c:pt idx="1">
                  <c:v>D2 Stat</c:v>
                </c:pt>
                <c:pt idx="2">
                  <c:v>D3 Freq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7.9</c:v>
                </c:pt>
                <c:pt idx="1">
                  <c:v>14.3</c:v>
                </c:pt>
                <c:pt idx="2">
                  <c:v>33.299999999999997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ACB-420D-AE05-7F86BBA6393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L2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1295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D1 Raw</c:v>
                </c:pt>
                <c:pt idx="1">
                  <c:v>D2 Stat</c:v>
                </c:pt>
                <c:pt idx="2">
                  <c:v>D3 Freq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ACB-420D-AE05-7F86BBA6393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ElasticNet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1295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D1 Raw</c:v>
                </c:pt>
                <c:pt idx="1">
                  <c:v>D2 Stat</c:v>
                </c:pt>
                <c:pt idx="2">
                  <c:v>D3 Freq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5.6</c:v>
                </c:pt>
                <c:pt idx="1">
                  <c:v>14.3</c:v>
                </c:pt>
                <c:pt idx="2">
                  <c:v>11.1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ACB-420D-AE05-7F86BBA6393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1295C"/>
                </a:solidFill>
                <a:latin typeface="Arial"/>
              </a:defRPr>
            </a:pPr>
            <a:r>
              <a:rPr sz="1400" b="0" i="0" u="none" strike="noStrike">
                <a:solidFill>
                  <a:srgbClr val="21295C"/>
                </a:solidFill>
                <a:latin typeface="Arial"/>
              </a:rPr>
              <a:t>F1 Score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L1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1295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D1 Raw</c:v>
                </c:pt>
                <c:pt idx="1">
                  <c:v>D2 Stat</c:v>
                </c:pt>
                <c:pt idx="2">
                  <c:v>D3 Freq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0.83599999999999997</c:v>
                </c:pt>
                <c:pt idx="1">
                  <c:v>0.91700000000000004</c:v>
                </c:pt>
                <c:pt idx="2">
                  <c:v>0.97799999999999998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EB-42AA-AD76-33B8F8ABEB2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L2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1295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D1 Raw</c:v>
                </c:pt>
                <c:pt idx="1">
                  <c:v>D2 Stat</c:v>
                </c:pt>
                <c:pt idx="2">
                  <c:v>D3 Freq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0.83</c:v>
                </c:pt>
                <c:pt idx="1">
                  <c:v>0.91400000000000003</c:v>
                </c:pt>
                <c:pt idx="2">
                  <c:v>0.98099999999999998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CEB-42AA-AD76-33B8F8ABEB2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ElasticNet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1295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D1 Raw</c:v>
                </c:pt>
                <c:pt idx="1">
                  <c:v>D2 Stat</c:v>
                </c:pt>
                <c:pt idx="2">
                  <c:v>D3 Freq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0.83</c:v>
                </c:pt>
                <c:pt idx="1">
                  <c:v>0.91400000000000003</c:v>
                </c:pt>
                <c:pt idx="2">
                  <c:v>0.98099999999999998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CEB-42AA-AD76-33B8F8ABEB2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9314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548640"/>
            <a:ext cx="45720" cy="137160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39328" y="548640"/>
            <a:ext cx="45720" cy="490604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49056" y="548640"/>
            <a:ext cx="45720" cy="677817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58784" y="548640"/>
            <a:ext cx="45720" cy="610751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68512" y="548640"/>
            <a:ext cx="45720" cy="320948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548640"/>
            <a:ext cx="45720" cy="329614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87968" y="548640"/>
            <a:ext cx="45720" cy="615341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97696" y="548640"/>
            <a:ext cx="45720" cy="676173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07424" y="548640"/>
            <a:ext cx="45720" cy="483498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217152" y="548640"/>
            <a:ext cx="45720" cy="146385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326880" y="548640"/>
            <a:ext cx="45720" cy="497609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36608" y="548640"/>
            <a:ext cx="45720" cy="679309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46336" y="548640"/>
            <a:ext cx="45720" cy="606027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56064" y="548640"/>
            <a:ext cx="45720" cy="312230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65792" y="548640"/>
            <a:ext cx="45720" cy="338225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75520" y="548640"/>
            <a:ext cx="45720" cy="619796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985248" y="548640"/>
            <a:ext cx="45720" cy="674376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94976" y="548640"/>
            <a:ext cx="45720" cy="476295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204704" y="548640"/>
            <a:ext cx="45720" cy="155607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314432" y="548640"/>
            <a:ext cx="45720" cy="504513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24160" y="548640"/>
            <a:ext cx="45720" cy="680647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533888" y="548640"/>
            <a:ext cx="45720" cy="601171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43616" y="548640"/>
            <a:ext cx="45720" cy="303463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753344" y="548640"/>
            <a:ext cx="45720" cy="346780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863072" y="548640"/>
            <a:ext cx="45720" cy="624115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972800" y="548640"/>
            <a:ext cx="45720" cy="672427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082528" y="548640"/>
            <a:ext cx="45720" cy="468995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192256" y="548640"/>
            <a:ext cx="45720" cy="164824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301984" y="548640"/>
            <a:ext cx="45720" cy="511313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411712" y="548640"/>
            <a:ext cx="45720" cy="681831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Seizure Prediction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914400" y="2560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• Regularization • Class Imbalance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Study Across Three EEG Feature Representations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914400" y="4206240"/>
            <a:ext cx="91440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4389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Dilawaiz</a:t>
            </a:r>
            <a:r>
              <a:rPr lang="en-US" sz="16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khadija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Semester Major Assignment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pipeline choices matter more than model choice in seizure prediction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029200" cy="1188720"/>
          </a:xfrm>
          <a:prstGeom prst="rect">
            <a:avLst/>
          </a:prstGeom>
          <a:solidFill>
            <a:srgbClr val="F1F5F9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45920"/>
            <a:ext cx="109728" cy="11887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377440" y="164592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affected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epilepsy worldwide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5029200" cy="1188720"/>
          </a:xfrm>
          <a:prstGeom prst="rect">
            <a:avLst/>
          </a:prstGeom>
          <a:solidFill>
            <a:srgbClr val="F1F5F9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108960"/>
            <a:ext cx="109728" cy="11887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10896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2377440" y="310896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EEG samples are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seizure (heavy imbalance)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4572000"/>
            <a:ext cx="5029200" cy="1188720"/>
          </a:xfrm>
          <a:prstGeom prst="rect">
            <a:avLst/>
          </a:prstGeom>
          <a:solidFill>
            <a:srgbClr val="F1F5F9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4572000"/>
            <a:ext cx="109728" cy="11887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57200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2377440" y="457200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features per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1-second EEG segment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43600" y="16459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key questions we answer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943600" y="2103120"/>
            <a:ext cx="57607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preprocessing order affect results?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regularization generalizes best?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Elastic Net beat L1 and L2?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imbalance handling interact with regularization?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Datasets, One Source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Epileptic Seizure Recognition → 3 feature representations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3657600" cy="4206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737360"/>
            <a:ext cx="3657600" cy="16459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57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— Raw EEG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731520" y="4160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57200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time-domain samples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High-dim, noisy, redundant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61688" y="1737360"/>
            <a:ext cx="3657600" cy="4206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61688" y="1737360"/>
            <a:ext cx="3657600" cy="16459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636008" y="2057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HAND-CRAFTED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36008" y="24231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— Statistical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36008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000" dirty="0"/>
          </a:p>
        </p:txBody>
      </p:sp>
      <p:sp>
        <p:nvSpPr>
          <p:cNvPr id="16" name="Text 14"/>
          <p:cNvSpPr/>
          <p:nvPr/>
        </p:nvSpPr>
        <p:spPr>
          <a:xfrm>
            <a:off x="4636008" y="4160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36008" y="457200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Mean, std, skew, kurtosis,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RMS, MAV, zero-crossings...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66176" y="1737360"/>
            <a:ext cx="3657600" cy="4206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66176" y="1737360"/>
            <a:ext cx="3657600" cy="1645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8540496" y="2057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40496" y="24231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— Frequency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540496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8540496" y="4160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40496" y="457200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powers (δ,θ,α,β,γ),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entropy, centroid, edge freq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 stratified samples • 20% positive class • 4:1 imbalance ratio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Preprocessing Pipelines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compare orderings to test the central hypothesis: order matters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640080" cy="6400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22402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280160" y="25786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zero-mean, unit-variance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2971800"/>
            <a:ext cx="0" cy="3200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57200" y="3291840"/>
            <a:ext cx="640080" cy="6400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291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3246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Denoise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80160" y="35844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outliers ±4σ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3977640"/>
            <a:ext cx="0" cy="3200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57200" y="4297680"/>
            <a:ext cx="640080" cy="6400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80160" y="4251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SelectKBest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80160" y="45902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F-score, top 50%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17373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400800" y="2286000"/>
            <a:ext cx="640080" cy="6400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2376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23760" y="25786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at dataset level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720840" y="2971800"/>
            <a:ext cx="0" cy="32004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400800" y="3291840"/>
            <a:ext cx="640080" cy="6400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291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223760" y="3246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MinMaxScaler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223760" y="35844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[0,1]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720840" y="3977640"/>
            <a:ext cx="0" cy="32004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00800" y="4297680"/>
            <a:ext cx="640080" cy="6400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223760" y="4251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7223760" y="4590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95% variance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5852160"/>
            <a:ext cx="11247120" cy="7315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5852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A preserves interpretability; B compresses redundancy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Logistic Regression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features (D3) carry the most discriminative information</a:t>
            </a:r>
            <a:endParaRPr lang="en-US" sz="1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645920"/>
          <a:ext cx="64008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737360"/>
            <a:ext cx="457200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132320" y="1737360"/>
            <a:ext cx="109728" cy="12801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0" y="18288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wins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0" y="2148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0.997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315200" y="25146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features are compact + discriminative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132320" y="3200400"/>
            <a:ext cx="457200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32320" y="3200400"/>
            <a:ext cx="109728" cy="12801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0" y="3291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lags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31520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0.83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315200" y="39776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high-dim raw EEG hits curse of dimensionality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132320" y="4663440"/>
            <a:ext cx="457200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0" y="4663440"/>
            <a:ext cx="109728" cy="12801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0" y="4754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close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315200" y="5074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 F1 pt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315200" y="54406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difference between A and B at baseline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&amp; Underfitting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extreme regimes on D1 — visualized with learning curves</a:t>
            </a:r>
            <a:endParaRPr lang="en-US" sz="1600" dirty="0"/>
          </a:p>
        </p:txBody>
      </p:sp>
      <p:pic>
        <p:nvPicPr>
          <p:cNvPr id="4" name="Image 0" descr="/home/claude/seizure_project/figures/learning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777240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03920" y="1554480"/>
            <a:ext cx="329184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UNDERFIT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95360" y="19659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features + C = 10⁻⁴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curves stay low →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too constrained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503920" y="3108960"/>
            <a:ext cx="329184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154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595360" y="352044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 + poly features, no reg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F1 = 0.96 / Val F1 = 0.74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22-point gap = memorizing</a:t>
            </a:r>
            <a:endParaRPr lang="en-US" sz="1300" dirty="0"/>
          </a:p>
        </p:txBody>
      </p:sp>
      <p:pic>
        <p:nvPicPr>
          <p:cNvPr id="11" name="Image 1" descr="/home/claude/seizure_project/figures/validation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72000"/>
            <a:ext cx="6858000" cy="21031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589520" y="4937760"/>
            <a:ext cx="4114800" cy="1463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72400" y="50292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spot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772400" y="544068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F1 peaks around C ≈ 0.01.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reg → under-fit.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reg → no extra gain.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Regularization: L1 vs L2 vs Elastic Net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Sparsity tells the real story — performance differences are small</a:t>
            </a:r>
            <a:endParaRPr lang="en-US" sz="1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645920"/>
          <a:ext cx="59436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6583680" y="1645920"/>
          <a:ext cx="512064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Imbalance: The Precision–Recall Trade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/ undersampling / class-weighting all raise recall at a precision cost</a:t>
            </a:r>
            <a:endParaRPr lang="en-US" sz="1600" dirty="0"/>
          </a:p>
        </p:txBody>
      </p:sp>
      <p:pic>
        <p:nvPicPr>
          <p:cNvPr id="4" name="Image 0" descr="/home/claude/seizure_project/figures/pr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7498080" cy="2743200"/>
          </a:xfrm>
          <a:prstGeom prst="rect">
            <a:avLst/>
          </a:prstGeom>
        </p:spPr>
      </p:pic>
      <p:pic>
        <p:nvPicPr>
          <p:cNvPr id="5" name="Image 1" descr="/home/claude/seizure_project/figures/pr_auc_he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89120"/>
            <a:ext cx="7498080" cy="2286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229600" y="1645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8229600" y="2103120"/>
            <a:ext cx="36576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recall: 0.83 → 0.92 with undersampling, but precision drops 0.83 → 0.70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D3, undersampling reaches 100% recall with almost no precision loss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Class-weighting matches SMOTE in F1 but costs nothing extra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 barely moves: it summarizes the curve, not the operating point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Analysis — Four Answers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48640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280160"/>
            <a:ext cx="137160" cy="23774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554480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37360" y="15087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preprocessing order affect results?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737360" y="19202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but small effect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differs by ≤0.5 pts between A and B. Direction flips with feature type.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280160"/>
            <a:ext cx="548640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280160"/>
            <a:ext cx="137160" cy="23774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6675120" y="15544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0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589520" y="15087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regularization generalizes best?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0" y="19202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wins narrowly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75120" y="265176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F1 = 0.911 (L1) vs 0.909 (L2 &amp; EN). L1 also most stable across folds.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931920"/>
            <a:ext cx="548640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931920"/>
            <a:ext cx="137160" cy="2377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" y="4206240"/>
            <a:ext cx="731520" cy="7315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206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737360" y="4160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Elastic Net consistently beat L1/L2?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37360" y="45720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EN won 1/6 head-to-heads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22960" y="530352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D1 the pure-sparse L1 wins; on D2/D3 all three converge.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309360" y="3931920"/>
            <a:ext cx="548640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09360" y="3931920"/>
            <a:ext cx="137160" cy="23774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Shape 24"/>
          <p:cNvSpPr/>
          <p:nvPr/>
        </p:nvSpPr>
        <p:spPr>
          <a:xfrm>
            <a:off x="6675120" y="4206240"/>
            <a:ext cx="731520" cy="7315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0" y="4206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589520" y="4160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imbalance interact with reg?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589520" y="45720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 coherent shift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675120" y="530352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Resampling costs F1 across all regs; class-weighting + L1 is best clinically.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Recommendation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seizure-prediction logistic regression baseline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24688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41732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zero-mean, unit-variance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3200400"/>
            <a:ext cx="182880" cy="0"/>
          </a:xfrm>
          <a:prstGeom prst="line">
            <a:avLst/>
          </a:prstGeom>
          <a:noFill/>
          <a:ln w="381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383280" y="22860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24688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434340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474720" y="3291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SelectKBest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3657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F-score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3200400"/>
            <a:ext cx="182880" cy="0"/>
          </a:xfrm>
          <a:prstGeom prst="line">
            <a:avLst/>
          </a:prstGeom>
          <a:noFill/>
          <a:ln w="381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309360" y="22860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69480" y="24688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26948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00800" y="3291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Logistic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0" y="3657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tuned via validation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06840" y="3200400"/>
            <a:ext cx="182880" cy="0"/>
          </a:xfrm>
          <a:prstGeom prst="line">
            <a:avLst/>
          </a:prstGeom>
          <a:noFill/>
          <a:ln w="381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235440" y="22860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95560" y="24688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/>
          <p:nvPr/>
        </p:nvSpPr>
        <p:spPr>
          <a:xfrm>
            <a:off x="1019556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326880" y="3291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326880" y="3657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'balanced'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754880"/>
            <a:ext cx="11247120" cy="9144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47548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PR-AUC alongside F1 — it captures the imbalanced precision–recall surface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extend to multi-channel CHB-MIT, compare to gradient-boosted trees and lightweight CNNs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0"/>
            <a:ext cx="64008" cy="182880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731520"/>
            <a:ext cx="64008" cy="489751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731520"/>
            <a:ext cx="64008" cy="721489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731520"/>
            <a:ext cx="64008" cy="821357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731520"/>
            <a:ext cx="64008" cy="764903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00200" y="731520"/>
            <a:ext cx="64008" cy="565950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731520"/>
            <a:ext cx="64008" cy="273208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57400" y="731520"/>
            <a:ext cx="64008" cy="407409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731520"/>
            <a:ext cx="64008" cy="667294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14600" y="731520"/>
            <a:ext cx="64008" cy="808577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0" y="731520"/>
            <a:ext cx="64008" cy="796668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800" y="731520"/>
            <a:ext cx="64008" cy="634482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731520"/>
            <a:ext cx="64008" cy="361728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9000" y="731520"/>
            <a:ext cx="64008" cy="320574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731520"/>
            <a:ext cx="64008" cy="603404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6200" y="731520"/>
            <a:ext cx="64008" cy="783275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0" y="731520"/>
            <a:ext cx="64008" cy="816148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43400" y="731520"/>
            <a:ext cx="64008" cy="693976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731520"/>
            <a:ext cx="64008" cy="446669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00600" y="731520"/>
            <a:ext cx="64008" cy="230983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0" y="731520"/>
            <a:ext cx="64008" cy="531097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57800" y="731520"/>
            <a:ext cx="64008" cy="745956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0" y="731520"/>
            <a:ext cx="64008" cy="822954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15000" y="731520"/>
            <a:ext cx="64008" cy="743239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731520"/>
            <a:ext cx="64008" cy="526330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72200" y="731520"/>
            <a:ext cx="64008" cy="225331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0" y="731520"/>
            <a:ext cx="64008" cy="451821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29400" y="731520"/>
            <a:ext cx="64008" cy="697366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58000" y="731520"/>
            <a:ext cx="64008" cy="816948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86600" y="731520"/>
            <a:ext cx="64008" cy="781288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315200" y="731520"/>
            <a:ext cx="64008" cy="599116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43800" y="731520"/>
            <a:ext cx="64008" cy="315036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400" y="731520"/>
            <a:ext cx="64008" cy="367161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01000" y="731520"/>
            <a:ext cx="64008" cy="638480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0" y="731520"/>
            <a:ext cx="64008" cy="798251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58200" y="731520"/>
            <a:ext cx="64008" cy="807359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686800" y="731520"/>
            <a:ext cx="64008" cy="663572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915400" y="731520"/>
            <a:ext cx="64008" cy="402095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44000" y="731520"/>
            <a:ext cx="64008" cy="278813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372600" y="731520"/>
            <a:ext cx="64008" cy="570474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601200" y="731520"/>
            <a:ext cx="64008" cy="767238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829800" y="731520"/>
            <a:ext cx="64008" cy="820931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058400" y="731520"/>
            <a:ext cx="64008" cy="718407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87000" y="731520"/>
            <a:ext cx="64008" cy="484767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515600" y="731520"/>
            <a:ext cx="64008" cy="188546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744200" y="731520"/>
            <a:ext cx="64008" cy="494711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972800" y="731520"/>
            <a:ext cx="64008" cy="724529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201400" y="731520"/>
            <a:ext cx="64008" cy="821732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1430000" y="731520"/>
            <a:ext cx="64008" cy="762523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1658600" y="731520"/>
            <a:ext cx="64008" cy="561396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274320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53" name="Text 51"/>
          <p:cNvSpPr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54" name="Shape 52"/>
          <p:cNvSpPr/>
          <p:nvPr/>
        </p:nvSpPr>
        <p:spPr>
          <a:xfrm>
            <a:off x="0" y="5943600"/>
            <a:ext cx="12161520" cy="9144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594360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on GitHub • Notebook on Colab • Report on Overleaf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662</Words>
  <Application>Microsoft Office PowerPoint</Application>
  <PresentationFormat>Widescreen</PresentationFormat>
  <Paragraphs>150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Seizure Prediction Comparative Study</dc:title>
  <dc:subject>PptxGenJS Presentation</dc:subject>
  <dc:creator>Student</dc:creator>
  <cp:lastModifiedBy>HP</cp:lastModifiedBy>
  <cp:revision>3</cp:revision>
  <dcterms:created xsi:type="dcterms:W3CDTF">2026-05-26T09:57:53Z</dcterms:created>
  <dcterms:modified xsi:type="dcterms:W3CDTF">2026-05-26T10:39:24Z</dcterms:modified>
</cp:coreProperties>
</file>